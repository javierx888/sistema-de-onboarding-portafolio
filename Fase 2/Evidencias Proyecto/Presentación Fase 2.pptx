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hkBflUHYbHta/Shyv+TazxdFd6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5f7eded9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8" name="Google Shape;138;g3d5f7eded9e_0_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7" name="Google Shape;167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5" name="Google Shape;185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e4cfb01e8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6" name="Google Shape;196;g3de4cfb01e8_1_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de4cfb01e8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g3de4cfb01e8_1_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2" name="Google Shape;21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e26f10fdf6_0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e26f10fdf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9" name="Google Shape;229;p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5" name="Google Shape;235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" name="Google Shape;2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2.jpg"/><Relationship Id="rId6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Relationship Id="rId4" Type="http://schemas.openxmlformats.org/officeDocument/2006/relationships/hyperlink" Target="http://node.js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hyperlink" Target="https://onboardhub-ebon.vercel.app/admin/" TargetMode="External"/><Relationship Id="rId5" Type="http://schemas.openxmlformats.org/officeDocument/2006/relationships/hyperlink" Target="https://onboardhub-ebon.vercel.app/employee/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 FASE 2 PORTAFOLIO DE TITULO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5" y="1373526"/>
            <a:ext cx="7947231" cy="5484307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Javier Gacitua 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Planificación de sprints, coordinación de reuniones, seguimiento de avances, control de backlog.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Alejandra Guzmán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Equipo de desarrollo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Análisis de requerimientos, diseño de wireframes, documentación, desarrollo de módulos.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Max Kreimerman (Alloxentric)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Definición de requisitos, validación de entregables, priorización del backlog.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2"/>
          <p:cNvSpPr txBox="1"/>
          <p:nvPr/>
        </p:nvSpPr>
        <p:spPr>
          <a:xfrm>
            <a:off x="120763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0" name="Google Shape;100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01" name="Google Shape;10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01210" y="5437848"/>
            <a:ext cx="1245600" cy="12456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  <p:pic>
        <p:nvPicPr>
          <p:cNvPr descr="Imagen del perfil" id="102" name="Google Shape;102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1085" y="3597146"/>
            <a:ext cx="1245900" cy="12459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  <p:pic>
        <p:nvPicPr>
          <p:cNvPr id="103" name="Google Shape;10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01210" y="1670864"/>
            <a:ext cx="1245600" cy="1223400"/>
          </a:xfrm>
          <a:prstGeom prst="ellipse">
            <a:avLst/>
          </a:prstGeom>
          <a:noFill/>
          <a:ln>
            <a:noFill/>
          </a:ln>
          <a:effectLst>
            <a:outerShdw blurRad="381000" sx="-80000" rotWithShape="0" dir="5400000" dist="292100" sy="-18000">
              <a:srgbClr val="000000">
                <a:alpha val="21960"/>
              </a:srgbClr>
            </a:outerShdw>
          </a:effectLst>
        </p:spPr>
      </p:pic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0" y="113084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1" name="Google Shape;111;p3"/>
          <p:cNvSpPr/>
          <p:nvPr/>
        </p:nvSpPr>
        <p:spPr>
          <a:xfrm>
            <a:off x="684928" y="2068499"/>
            <a:ext cx="4348705" cy="4420573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Alloxentric necesita digitalizar el proceso de incorporación de nuevos empleados para sus clientes. Actualmente este proceso es manual, repetitivo y difícil de escalar, lo que genera pérdida de tiempo en RRHH y una experiencia de bienvenida deficiente para el trabajador.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6912079" y="2177325"/>
            <a:ext cx="4348705" cy="4311747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Un </a:t>
            </a:r>
            <a:r>
              <a:rPr b="1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sistema OnBoarding (OnBoardHub) </a:t>
            </a:r>
            <a:r>
              <a:rPr b="0" i="0" lang="es-CL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que permite construir flujos de incorporación personalizados por empresa, con portal administrativo, portal del empleado, app móvil, alertas por SLA y soporte multi-tenant.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151588" y="1590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9" name="Google Shape;11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" y="710277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2" name="Google Shape;122;p4"/>
          <p:cNvSpPr txBox="1"/>
          <p:nvPr/>
        </p:nvSpPr>
        <p:spPr>
          <a:xfrm>
            <a:off x="-24" y="3105761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614514" y="1384324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Diseñar, implementar y documentar una solución de automatización inteligente que resuelva un proceso operativo específico para un cliente, garantizando la autonomía del sistema y la facilidad de uso para el operador humano.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25" y="3752251"/>
            <a:ext cx="10962900" cy="3007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1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b="1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Iteración Técnica:</a:t>
            </a: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Evolucionar el código base hacia una versión de producción estable y eficiente.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b="1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Integración de IA:</a:t>
            </a: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Asegurar que los modelos de IA implementados cumplan con los niveles de precisión requeridos por el proceso del cliente.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b="1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Excelencia en Documentación:</a:t>
            </a: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Completar el ciclo de vida del software mediante la entrega de manuales técnicos y de usuario de alta calidad.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Char char="●"/>
            </a:pPr>
            <a:r>
              <a:rPr b="1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Validación de Impacto:</a:t>
            </a:r>
            <a:r>
              <a:rPr b="0" i="0" lang="es-C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Cuantificar la carga de trabajo humano reducida gracias a la automatización implementada.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151638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0" name="Google Shape;13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1" name="Google Shape;131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2" name="Google Shape;132;p5"/>
          <p:cNvSpPr txBox="1"/>
          <p:nvPr>
            <p:ph type="title"/>
          </p:nvPr>
        </p:nvSpPr>
        <p:spPr>
          <a:xfrm>
            <a:off x="838200" y="904416"/>
            <a:ext cx="10515600" cy="65147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s-CL" sz="3600"/>
              <a:t>Alcances y limitaciones del proyecto</a:t>
            </a:r>
            <a:endParaRPr b="1" sz="3600"/>
          </a:p>
        </p:txBody>
      </p:sp>
      <p:sp>
        <p:nvSpPr>
          <p:cNvPr id="133" name="Google Shape;133;p5"/>
          <p:cNvSpPr txBox="1"/>
          <p:nvPr>
            <p:ph idx="1" type="body"/>
          </p:nvPr>
        </p:nvSpPr>
        <p:spPr>
          <a:xfrm>
            <a:off x="459980" y="1635213"/>
            <a:ext cx="5181600" cy="5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9498"/>
              <a:buNone/>
            </a:pPr>
            <a:r>
              <a:rPr b="1" lang="es-CL"/>
              <a:t>Alcances:</a:t>
            </a:r>
            <a:endParaRPr b="1"/>
          </a:p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Diseño, desarrollo e implementación de un sistema de onboarding automatizado con IA.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Evolución y mejora de la información base entregada por Alloxentric.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Desarrollo de los módulos principales: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Portal administrativo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Portal web del empleado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Aplicación móvil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Implementación de funcionalidades clave: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Gestión de usuarios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Constructor de procesos de onboarding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4054"/>
              <a:buChar char="•"/>
            </a:pPr>
            <a:r>
              <a:rPr lang="es-CL" sz="2200">
                <a:latin typeface="Calibri"/>
                <a:ea typeface="Calibri"/>
                <a:cs typeface="Calibri"/>
                <a:sym typeface="Calibri"/>
              </a:rPr>
              <a:t>Sistema de alertas y notificaciones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105338" y="-27872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5"/>
          <p:cNvSpPr txBox="1"/>
          <p:nvPr/>
        </p:nvSpPr>
        <p:spPr>
          <a:xfrm>
            <a:off x="6201338" y="1635213"/>
            <a:ext cx="5181600" cy="5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s-CL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Alcances:</a:t>
            </a:r>
            <a:endParaRPr/>
          </a:p>
          <a:p>
            <a:pPr indent="-2984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Integración de estándares técnicos:</a:t>
            </a:r>
            <a:endParaRPr/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RBAC (roles y permisos)</a:t>
            </a:r>
            <a:endParaRPr/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Multi-tenancy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Auditoría de logs</a:t>
            </a:r>
            <a:endParaRPr/>
          </a:p>
          <a:p>
            <a:pPr indent="-2984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Aplicación de inteligencia artificial para automatizar procesos operativos.</a:t>
            </a:r>
            <a:endParaRPr/>
          </a:p>
          <a:p>
            <a:pPr indent="-2984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Ejecución de:</a:t>
            </a:r>
            <a:endParaRPr/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Pruebas funcionales y QA</a:t>
            </a:r>
            <a:endParaRPr/>
          </a:p>
          <a:p>
            <a:pPr indent="-2984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Generación de documentación completa:</a:t>
            </a:r>
            <a:endParaRPr/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Manual de usuario</a:t>
            </a:r>
            <a:endParaRPr/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Manual de deployment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8450" lvl="1" marL="9144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s-CL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Documentación técnica y APIs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0" name="Google Shape;140;g3d5f7eded9e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1" name="Google Shape;141;g3d5f7eded9e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2" name="Google Shape;142;g3d5f7eded9e_0_1"/>
          <p:cNvSpPr txBox="1"/>
          <p:nvPr>
            <p:ph type="title"/>
          </p:nvPr>
        </p:nvSpPr>
        <p:spPr>
          <a:xfrm>
            <a:off x="838200" y="849813"/>
            <a:ext cx="10515600" cy="78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es-CL" sz="3600"/>
              <a:t>Alcances y limitaciones del proyecto</a:t>
            </a:r>
            <a:endParaRPr b="1" sz="3600"/>
          </a:p>
        </p:txBody>
      </p:sp>
      <p:sp>
        <p:nvSpPr>
          <p:cNvPr id="143" name="Google Shape;143;g3d5f7eded9e_0_1"/>
          <p:cNvSpPr txBox="1"/>
          <p:nvPr>
            <p:ph idx="2" type="body"/>
          </p:nvPr>
        </p:nvSpPr>
        <p:spPr>
          <a:xfrm>
            <a:off x="657549" y="2321850"/>
            <a:ext cx="5458500" cy="24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b="1" lang="es-CL"/>
              <a:t>Limitaciones:</a:t>
            </a:r>
            <a:endParaRPr b="1"/>
          </a:p>
          <a:p>
            <a:pPr indent="-381000" lvl="0" marL="4572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</a:pPr>
            <a:r>
              <a:rPr lang="es-CL" sz="2400">
                <a:latin typeface="Calibri"/>
                <a:ea typeface="Calibri"/>
                <a:cs typeface="Calibri"/>
                <a:sym typeface="Calibri"/>
              </a:rPr>
              <a:t>El proyecto se encuentra limitado por tiempo, tamaño del equipo y alcance MVP, y restricciones en la implementación completa de IA y escalabilidad.</a:t>
            </a:r>
            <a:endParaRPr sz="24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g3d5f7eded9e_0_1"/>
          <p:cNvSpPr txBox="1"/>
          <p:nvPr/>
        </p:nvSpPr>
        <p:spPr>
          <a:xfrm>
            <a:off x="105338" y="-27872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6"/>
          <p:cNvSpPr txBox="1"/>
          <p:nvPr/>
        </p:nvSpPr>
        <p:spPr>
          <a:xfrm>
            <a:off x="0" y="89411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2" name="Google Shape;152;p6"/>
          <p:cNvSpPr txBox="1"/>
          <p:nvPr>
            <p:ph idx="1" type="body"/>
          </p:nvPr>
        </p:nvSpPr>
        <p:spPr>
          <a:xfrm>
            <a:off x="838200" y="1776975"/>
            <a:ext cx="10515600" cy="38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Metodología ágil</a:t>
            </a:r>
            <a:r>
              <a:rPr lang="es-CL" sz="2400"/>
              <a:t>: trabajo en </a:t>
            </a:r>
            <a:r>
              <a:rPr b="1" lang="es-CL" sz="2400"/>
              <a:t>sprints de 1-2 semanas</a:t>
            </a:r>
            <a:r>
              <a:rPr lang="es-CL" sz="2400"/>
              <a:t> con entregables funcionales.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Reunión fija con Product Owner</a:t>
            </a:r>
            <a:r>
              <a:rPr lang="es-CL" sz="2400"/>
              <a:t>: martes 10:30 AM, usada para planificación y revisión de avances.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Roles principales</a:t>
            </a:r>
            <a:r>
              <a:rPr lang="es-CL" sz="2400"/>
              <a:t>: Product Owner, Scrum Master, Equipo de Desarrollo.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Gestión en Jira</a:t>
            </a:r>
            <a:r>
              <a:rPr lang="es-CL" sz="2400"/>
              <a:t>: historias de usuario con subtareas y tablero Scrum para seguimiento.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b="1" lang="es-CL" sz="2400"/>
              <a:t>Objetivo</a:t>
            </a:r>
            <a:r>
              <a:rPr lang="es-CL" sz="2400"/>
              <a:t>: asegurar entregas frecuentes, visibilidad del progreso y mejora continua en el sistema de onboarding.</a:t>
            </a:r>
            <a:endParaRPr sz="2400"/>
          </a:p>
        </p:txBody>
      </p:sp>
      <p:sp>
        <p:nvSpPr>
          <p:cNvPr id="153" name="Google Shape;153;p6"/>
          <p:cNvSpPr txBox="1"/>
          <p:nvPr/>
        </p:nvSpPr>
        <p:spPr>
          <a:xfrm>
            <a:off x="105323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18275" y="5153500"/>
            <a:ext cx="1595275" cy="147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 txBox="1"/>
          <p:nvPr/>
        </p:nvSpPr>
        <p:spPr>
          <a:xfrm>
            <a:off x="-56274" y="63582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b="1" i="0" sz="10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2" name="Google Shape;162;p7"/>
          <p:cNvSpPr txBox="1"/>
          <p:nvPr/>
        </p:nvSpPr>
        <p:spPr>
          <a:xfrm>
            <a:off x="3" y="6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434725"/>
            <a:ext cx="11753850" cy="2314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901700"/>
            <a:ext cx="11887199" cy="2123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9" name="Google Shape;16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" y="62088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Despliegue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1" name="Google Shape;171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72" name="Google Shape;172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41941" y="1404527"/>
            <a:ext cx="8108117" cy="53257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8" name="Google Shape;17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9"/>
          <p:cNvSpPr txBox="1"/>
          <p:nvPr/>
        </p:nvSpPr>
        <p:spPr>
          <a:xfrm>
            <a:off x="0" y="77780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 (ER)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0" name="Google Shape;180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81" name="Google Shape;181;p9"/>
          <p:cNvSpPr txBox="1"/>
          <p:nvPr/>
        </p:nvSpPr>
        <p:spPr>
          <a:xfrm>
            <a:off x="136200" y="368925"/>
            <a:ext cx="8636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p9" title="Relational_1V2.png"/>
          <p:cNvPicPr preferRelativeResize="0"/>
          <p:nvPr/>
        </p:nvPicPr>
        <p:blipFill rotWithShape="1">
          <a:blip r:embed="rId4">
            <a:alphaModFix/>
          </a:blip>
          <a:srcRect b="0" l="6331" r="6340" t="0"/>
          <a:stretch/>
        </p:blipFill>
        <p:spPr>
          <a:xfrm>
            <a:off x="2387130" y="777800"/>
            <a:ext cx="7606571" cy="6080201"/>
          </a:xfrm>
          <a:prstGeom prst="rect">
            <a:avLst/>
          </a:prstGeom>
          <a:noFill/>
          <a:ln>
            <a:noFill/>
          </a:ln>
          <a:effectLst>
            <a:reflection blurRad="0" dir="5400000" dist="38100" endA="0" endPos="30000" fadeDir="5400012" kx="0" rotWithShape="0" algn="bl" stPos="0" sy="-100000" ky="0"/>
          </a:effectLst>
        </p:spPr>
      </p:pic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7" name="Google Shape;18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0"/>
          <p:cNvSpPr txBox="1"/>
          <p:nvPr/>
        </p:nvSpPr>
        <p:spPr>
          <a:xfrm>
            <a:off x="0" y="9929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9" name="Google Shape;189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0" name="Google Shape;190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0"/>
          <p:cNvSpPr txBox="1"/>
          <p:nvPr>
            <p:ph idx="2" type="body"/>
          </p:nvPr>
        </p:nvSpPr>
        <p:spPr>
          <a:xfrm>
            <a:off x="1494050" y="2048975"/>
            <a:ext cx="2591700" cy="4128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-CL"/>
              <a:t>Frontend </a:t>
            </a:r>
            <a:endParaRPr b="1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React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Vercel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-CL"/>
              <a:t>Backend</a:t>
            </a:r>
            <a:endParaRPr b="1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 u="sng">
                <a:solidFill>
                  <a:schemeClr val="hlink"/>
                </a:solidFill>
                <a:hlinkClick r:id="rId4"/>
              </a:rPr>
              <a:t>Node.js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Render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 txBox="1"/>
          <p:nvPr>
            <p:ph idx="2" type="body"/>
          </p:nvPr>
        </p:nvSpPr>
        <p:spPr>
          <a:xfrm>
            <a:off x="4630250" y="2048975"/>
            <a:ext cx="2674800" cy="4128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-CL"/>
              <a:t>Base de datos</a:t>
            </a:r>
            <a:endParaRPr b="1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PostgreSQL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Supabase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pgAdmin/SQL Data Modeler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-CL"/>
              <a:t>Autenticación</a:t>
            </a:r>
            <a:endParaRPr b="1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Keycloak</a:t>
            </a:r>
            <a:endParaRPr/>
          </a:p>
        </p:txBody>
      </p:sp>
      <p:sp>
        <p:nvSpPr>
          <p:cNvPr id="193" name="Google Shape;193;p10"/>
          <p:cNvSpPr txBox="1"/>
          <p:nvPr>
            <p:ph idx="2" type="body"/>
          </p:nvPr>
        </p:nvSpPr>
        <p:spPr>
          <a:xfrm>
            <a:off x="8023150" y="2048975"/>
            <a:ext cx="2756700" cy="4128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-CL"/>
              <a:t>Infrastructura y Despliegue</a:t>
            </a:r>
            <a:endParaRPr b="1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Vercel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Supabase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GitHub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-CL"/>
              <a:t>Gestión Proyecto</a:t>
            </a:r>
            <a:endParaRPr b="1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-"/>
            </a:pPr>
            <a:r>
              <a:rPr lang="es-CL"/>
              <a:t>Jira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8" name="Google Shape;198;g3de4cfb01e8_1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g3de4cfb01e8_1_10"/>
          <p:cNvSpPr txBox="1"/>
          <p:nvPr/>
        </p:nvSpPr>
        <p:spPr>
          <a:xfrm>
            <a:off x="0" y="3105755"/>
            <a:ext cx="121920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Próximos Pasos / Cierre</a:t>
            </a:r>
            <a:endParaRPr b="0" i="0" sz="4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g3de4cfb01e8_1_10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1" name="Google Shape;201;g3de4cfb01e8_1_1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6" name="Google Shape;206;g3de4cfb01e8_1_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g3de4cfb01e8_1_18"/>
          <p:cNvSpPr txBox="1"/>
          <p:nvPr/>
        </p:nvSpPr>
        <p:spPr>
          <a:xfrm>
            <a:off x="0" y="3105755"/>
            <a:ext cx="121920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4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</a:t>
            </a:r>
            <a:endParaRPr b="0" i="0" sz="4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8" name="Google Shape;208;g3de4cfb01e8_1_18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09" name="Google Shape;209;g3de4cfb01e8_1_1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“Sistema Onboarding”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4" name="Google Shape;21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1"/>
          <p:cNvSpPr txBox="1"/>
          <p:nvPr/>
        </p:nvSpPr>
        <p:spPr>
          <a:xfrm>
            <a:off x="-65699" y="992892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b="0" i="0" sz="24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1"/>
          <p:cNvSpPr txBox="1"/>
          <p:nvPr>
            <p:ph idx="1" type="body"/>
          </p:nvPr>
        </p:nvSpPr>
        <p:spPr>
          <a:xfrm>
            <a:off x="983025" y="2678850"/>
            <a:ext cx="11143200" cy="3459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-CL" u="sng">
                <a:solidFill>
                  <a:schemeClr val="hlink"/>
                </a:solidFill>
                <a:hlinkClick r:id="rId4"/>
              </a:rPr>
              <a:t>https://onboardhub-ebon.vercel.app/admin/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>
                <a:solidFill>
                  <a:schemeClr val="dk1"/>
                </a:solidFill>
              </a:rPr>
              <a:t>Usuario “Super” Admin: admin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s-CL">
                <a:solidFill>
                  <a:schemeClr val="dk1"/>
                </a:solidFill>
              </a:rPr>
              <a:t>Contraseña </a:t>
            </a:r>
            <a:r>
              <a:rPr lang="es-CL">
                <a:solidFill>
                  <a:schemeClr val="dk1"/>
                </a:solidFill>
              </a:rPr>
              <a:t>“Super” Admin: admin123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Usuario RRHH: hr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Contraseña RRHH: hr123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s-CL" u="sng">
                <a:solidFill>
                  <a:schemeClr val="hlink"/>
                </a:solidFill>
                <a:hlinkClick r:id="rId5"/>
              </a:rPr>
              <a:t>https://onboardhub-ebon.vercel.app/employee/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5" name="Google Shape;22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1" name="Google Shape;23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3"/>
          <p:cNvSpPr txBox="1"/>
          <p:nvPr/>
        </p:nvSpPr>
        <p:spPr>
          <a:xfrm>
            <a:off x="1" y="1360773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7" name="Google Shape;23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14"/>
          <p:cNvSpPr txBox="1"/>
          <p:nvPr/>
        </p:nvSpPr>
        <p:spPr>
          <a:xfrm>
            <a:off x="0" y="3044279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