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i9HX16sim5L3RRhszvJJ/hphhA2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7149967-E813-4C4C-9571-53EA1C5C59E0}">
  <a:tblStyle styleId="{57149967-E813-4C4C-9571-53EA1C5C59E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8" name="Google Shape;1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5f7eded9e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8" name="Google Shape;138;g3d5f7eded9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7" name="Google Shape;14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7" name="Google Shape;15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6" name="Google Shape;16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5" name="Google Shape;17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4" name="Google Shape;18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de4cfb01e8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5" name="Google Shape;195;g3de4cfb01e8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de4cfb01e8_1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3" name="Google Shape;203;g3de4cfb01e8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1" name="Google Shape;21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0" name="Google Shape;22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6" name="Google Shape;22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3" name="Google Shape;23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node.js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onboardhub-ebon.vercel.app/login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" y="270779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CL"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“SISTEMA ONBOARDING”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CL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 FASE </a:t>
            </a:r>
            <a:r>
              <a:rPr lang="es-C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s-CL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PORTAFOLIO DE </a:t>
            </a:r>
            <a:r>
              <a:rPr lang="es-C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TÍTULO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" name="Google Shape;91;p2"/>
          <p:cNvGrpSpPr/>
          <p:nvPr/>
        </p:nvGrpSpPr>
        <p:grpSpPr>
          <a:xfrm>
            <a:off x="4121025" y="1373526"/>
            <a:ext cx="7947231" cy="5484307"/>
            <a:chOff x="0" y="0"/>
            <a:chExt cx="7633494" cy="4350553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7633494" cy="1359548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13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662653" y="0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050" tIns="99050" rIns="99050" bIns="990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lang="es-CL" sz="26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Alejandra Guzmán</a:t>
              </a:r>
              <a:endParaRPr sz="2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Scrum Master</a:t>
              </a:r>
              <a:endPara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Planificación de sprints, coordinación de reuniones, seguimiento de avances, control de backlog.</a:t>
              </a:r>
              <a:endPara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13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2"/>
            <p:cNvSpPr txBox="1"/>
            <p:nvPr/>
          </p:nvSpPr>
          <p:spPr>
            <a:xfrm>
              <a:off x="1662653" y="1495502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050" tIns="99050" rIns="99050" bIns="990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lang="es-CL" sz="26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Javier Gacitua</a:t>
              </a:r>
              <a:endParaRPr sz="2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Equipo de desarrollo</a:t>
              </a:r>
              <a:endPara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Análisis de requerimientos, diseño de wireframes, documentación, desarrollo de módulos.</a:t>
              </a:r>
              <a:endPara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0" y="2991005"/>
              <a:ext cx="7633494" cy="1359548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13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2"/>
            <p:cNvSpPr txBox="1"/>
            <p:nvPr/>
          </p:nvSpPr>
          <p:spPr>
            <a:xfrm>
              <a:off x="1662653" y="2991005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050" tIns="99050" rIns="99050" bIns="990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Max Kreimerman (Alloxentric)</a:t>
              </a:r>
              <a:endParaRPr sz="2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Product Owner</a:t>
              </a:r>
              <a:endPara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Definición de requisitos, validación de entregables, priorización del backlog.</a:t>
              </a:r>
              <a:endPara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" name="Google Shape;98;p2"/>
          <p:cNvSpPr txBox="1"/>
          <p:nvPr/>
        </p:nvSpPr>
        <p:spPr>
          <a:xfrm>
            <a:off x="120763" y="3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“Sistema Onboarding”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01" name="Google Shape;101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01210" y="5437848"/>
            <a:ext cx="1245600" cy="1245600"/>
          </a:xfrm>
          <a:prstGeom prst="ellipse">
            <a:avLst/>
          </a:prstGeom>
          <a:noFill/>
          <a:ln>
            <a:noFill/>
          </a:ln>
          <a:effectLst>
            <a:outerShdw blurRad="381000" dist="292100" dir="5400000" sx="-80000" sy="-18000" rotWithShape="0">
              <a:srgbClr val="000000">
                <a:alpha val="21960"/>
              </a:srgbClr>
            </a:outerShdw>
          </a:effectLst>
        </p:spPr>
      </p:pic>
      <p:pic>
        <p:nvPicPr>
          <p:cNvPr id="102" name="Google Shape;102;p2" descr="Imagen del perfi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01060" y="1547596"/>
            <a:ext cx="1245900" cy="1245900"/>
          </a:xfrm>
          <a:prstGeom prst="ellipse">
            <a:avLst/>
          </a:prstGeom>
          <a:noFill/>
          <a:ln>
            <a:noFill/>
          </a:ln>
          <a:effectLst>
            <a:outerShdw blurRad="381000" dist="292100" dir="5400000" sx="-80000" sy="-18000" rotWithShape="0">
              <a:srgbClr val="000000">
                <a:alpha val="21960"/>
              </a:srgbClr>
            </a:outerShdw>
          </a:effectLst>
        </p:spPr>
      </p:pic>
      <p:pic>
        <p:nvPicPr>
          <p:cNvPr id="103" name="Google Shape;103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01210" y="3503964"/>
            <a:ext cx="1245600" cy="1223400"/>
          </a:xfrm>
          <a:prstGeom prst="ellipse">
            <a:avLst/>
          </a:prstGeom>
          <a:noFill/>
          <a:ln>
            <a:noFill/>
          </a:ln>
          <a:effectLst>
            <a:outerShdw blurRad="381000" dist="292100" dir="5400000" sx="-80000" sy="-18000" rotWithShape="0">
              <a:srgbClr val="000000">
                <a:alpha val="21960"/>
              </a:srgbClr>
            </a:outerShdw>
          </a:effectLst>
        </p:spPr>
      </p:pic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3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3"/>
          <p:cNvSpPr txBox="1"/>
          <p:nvPr/>
        </p:nvSpPr>
        <p:spPr>
          <a:xfrm>
            <a:off x="0" y="1130849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" name="Google Shape;110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11" name="Google Shape;111;p3"/>
          <p:cNvSpPr/>
          <p:nvPr/>
        </p:nvSpPr>
        <p:spPr>
          <a:xfrm>
            <a:off x="684928" y="2068499"/>
            <a:ext cx="4348705" cy="4420573"/>
          </a:xfrm>
          <a:prstGeom prst="roundRect">
            <a:avLst>
              <a:gd name="adj" fmla="val 10901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CL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Alloxentric necesita digitalizar el proceso de incorporación de nuevos empleados para sus clientes. Actualmente este proceso es manual, repetitivo y difícil de escalar, lo que genera pérdida de tiempo en RRHH y una experiencia de bienvenida deficiente para el trabajador.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6912079" y="2177325"/>
            <a:ext cx="4348705" cy="4311747"/>
          </a:xfrm>
          <a:prstGeom prst="roundRect">
            <a:avLst>
              <a:gd name="adj" fmla="val 10901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CL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 </a:t>
            </a:r>
            <a:r>
              <a:rPr lang="es-CL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sistema OnBoarding (OnBoardHub) </a:t>
            </a:r>
            <a:r>
              <a:rPr lang="es-CL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 permite construir flujos de incorporación personalizados por empresa, con portal administrativo, portal del empleado, app móvil, alertas por SLA y soporte multi-tenant.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151588" y="15903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“Sistema Onboarding”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4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 txBox="1"/>
          <p:nvPr/>
        </p:nvSpPr>
        <p:spPr>
          <a:xfrm>
            <a:off x="1" y="710277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2" name="Google Shape;122;p4"/>
          <p:cNvSpPr txBox="1"/>
          <p:nvPr/>
        </p:nvSpPr>
        <p:spPr>
          <a:xfrm>
            <a:off x="-24" y="3105761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614514" y="1384324"/>
            <a:ext cx="10962900" cy="1575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CL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Diseñar, implementar y documentar una solución de automatización inteligente que resuelva un proceso operativo específico para un cliente, garantizando la autonomía del sistema y la facilidad de uso para el operador humano.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614525" y="3752251"/>
            <a:ext cx="10962900" cy="30075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●"/>
            </a:pPr>
            <a:r>
              <a:rPr lang="es-CL" sz="2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Iteración Técnica:</a:t>
            </a:r>
            <a:r>
              <a:rPr lang="es-CL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Evolucionar el código base hacia una versión de producción estable y eficiente.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●"/>
            </a:pPr>
            <a:r>
              <a:rPr lang="es-CL" sz="2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Integración de IA:</a:t>
            </a:r>
            <a:r>
              <a:rPr lang="es-CL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Asegurar que los modelos de IA implementados cumplan con los niveles de precisión requeridos por el proceso del cliente.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●"/>
            </a:pPr>
            <a:r>
              <a:rPr lang="es-CL" sz="2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Excelencia en Documentación:</a:t>
            </a:r>
            <a:r>
              <a:rPr lang="es-CL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Completar el ciclo de vida del software mediante la entrega de manuales técnicos y de usuario de alta calidad.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●"/>
            </a:pPr>
            <a:r>
              <a:rPr lang="es-CL" sz="2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Validación de Impacto:</a:t>
            </a:r>
            <a:r>
              <a:rPr lang="es-CL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Cuantificar la carga de trabajo humano reducida gracias a la automatización implementada.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151638" y="3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“Sistema Onboarding”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5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1" name="Google Shape;131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2" name="Google Shape;132;p5"/>
          <p:cNvSpPr txBox="1">
            <a:spLocks noGrp="1"/>
          </p:cNvSpPr>
          <p:nvPr>
            <p:ph type="title"/>
          </p:nvPr>
        </p:nvSpPr>
        <p:spPr>
          <a:xfrm>
            <a:off x="838200" y="904416"/>
            <a:ext cx="10515600" cy="651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CL" sz="3600" b="1"/>
              <a:t>Alcances y limitaciones del proyecto</a:t>
            </a:r>
            <a:endParaRPr sz="3600" b="1"/>
          </a:p>
        </p:txBody>
      </p:sp>
      <p:sp>
        <p:nvSpPr>
          <p:cNvPr id="133" name="Google Shape;133;p5"/>
          <p:cNvSpPr txBox="1">
            <a:spLocks noGrp="1"/>
          </p:cNvSpPr>
          <p:nvPr>
            <p:ph type="body" idx="1"/>
          </p:nvPr>
        </p:nvSpPr>
        <p:spPr>
          <a:xfrm>
            <a:off x="459980" y="1635213"/>
            <a:ext cx="5181600" cy="50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r>
              <a:rPr lang="es-CL" b="1" dirty="0"/>
              <a:t>Alcances:</a:t>
            </a:r>
            <a:endParaRPr b="1" dirty="0"/>
          </a:p>
          <a:p>
            <a:pPr marL="45720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4054"/>
              <a:buChar char="•"/>
            </a:pPr>
            <a:r>
              <a:rPr lang="es-CL" sz="2200" dirty="0">
                <a:latin typeface="Calibri"/>
                <a:ea typeface="Calibri"/>
                <a:cs typeface="Calibri"/>
                <a:sym typeface="Calibri"/>
              </a:rPr>
              <a:t>Diseño, desarrollo e implementación de un sistema de </a:t>
            </a:r>
            <a:r>
              <a:rPr lang="es-CL" sz="2200" dirty="0" err="1">
                <a:latin typeface="Calibri"/>
                <a:ea typeface="Calibri"/>
                <a:cs typeface="Calibri"/>
                <a:sym typeface="Calibri"/>
              </a:rPr>
              <a:t>onboarding</a:t>
            </a:r>
            <a:r>
              <a:rPr lang="es-CL" sz="2200" dirty="0">
                <a:latin typeface="Calibri"/>
                <a:ea typeface="Calibri"/>
                <a:cs typeface="Calibri"/>
                <a:sym typeface="Calibri"/>
              </a:rPr>
              <a:t> automatizado con IA.</a:t>
            </a:r>
            <a:endParaRPr sz="22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4054"/>
              <a:buChar char="•"/>
            </a:pPr>
            <a:r>
              <a:rPr lang="es-CL" sz="2200" dirty="0">
                <a:latin typeface="Calibri"/>
                <a:ea typeface="Calibri"/>
                <a:cs typeface="Calibri"/>
                <a:sym typeface="Calibri"/>
              </a:rPr>
              <a:t>Evolución y mejora de la información base entregada por </a:t>
            </a:r>
            <a:r>
              <a:rPr lang="es-CL" sz="2200" dirty="0" err="1">
                <a:latin typeface="Calibri"/>
                <a:ea typeface="Calibri"/>
                <a:cs typeface="Calibri"/>
                <a:sym typeface="Calibri"/>
              </a:rPr>
              <a:t>Alloxentric</a:t>
            </a:r>
            <a:r>
              <a:rPr lang="es-CL" sz="2200" dirty="0">
                <a:latin typeface="Calibri"/>
                <a:ea typeface="Calibri"/>
                <a:cs typeface="Calibri"/>
                <a:sym typeface="Calibri"/>
              </a:rPr>
              <a:t>.</a:t>
            </a:r>
            <a:endParaRPr sz="22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4054"/>
              <a:buChar char="•"/>
            </a:pPr>
            <a:r>
              <a:rPr lang="es-CL" sz="2200" dirty="0">
                <a:latin typeface="Calibri"/>
                <a:ea typeface="Calibri"/>
                <a:cs typeface="Calibri"/>
                <a:sym typeface="Calibri"/>
              </a:rPr>
              <a:t>Desarrollo de los módulos principales:</a:t>
            </a:r>
            <a:endParaRPr sz="2200" dirty="0"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4054"/>
              <a:buChar char="•"/>
            </a:pPr>
            <a:r>
              <a:rPr lang="es-CL" sz="2200" dirty="0">
                <a:latin typeface="Calibri"/>
                <a:ea typeface="Calibri"/>
                <a:cs typeface="Calibri"/>
                <a:sym typeface="Calibri"/>
              </a:rPr>
              <a:t>Portal administrativo</a:t>
            </a:r>
            <a:endParaRPr sz="2200" dirty="0"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4054"/>
              <a:buChar char="•"/>
            </a:pPr>
            <a:r>
              <a:rPr lang="es-CL" sz="2200" dirty="0">
                <a:latin typeface="Calibri"/>
                <a:ea typeface="Calibri"/>
                <a:cs typeface="Calibri"/>
                <a:sym typeface="Calibri"/>
              </a:rPr>
              <a:t>Portal web del empleado</a:t>
            </a:r>
            <a:endParaRPr sz="2200" dirty="0"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4054"/>
              <a:buChar char="•"/>
            </a:pPr>
            <a:r>
              <a:rPr lang="es-CL" sz="2200" dirty="0">
                <a:latin typeface="Calibri"/>
                <a:ea typeface="Calibri"/>
                <a:cs typeface="Calibri"/>
                <a:sym typeface="Calibri"/>
              </a:rPr>
              <a:t>Aplicación móvil (postergada)</a:t>
            </a:r>
            <a:endParaRPr sz="22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4054"/>
              <a:buChar char="•"/>
            </a:pPr>
            <a:r>
              <a:rPr lang="es-CL" sz="2200" dirty="0">
                <a:latin typeface="Calibri"/>
                <a:ea typeface="Calibri"/>
                <a:cs typeface="Calibri"/>
                <a:sym typeface="Calibri"/>
              </a:rPr>
              <a:t>Implementación de funcionalidades clave:</a:t>
            </a:r>
            <a:endParaRPr sz="2200" dirty="0"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4054"/>
              <a:buChar char="•"/>
            </a:pPr>
            <a:r>
              <a:rPr lang="es-CL" sz="2200" dirty="0">
                <a:latin typeface="Calibri"/>
                <a:ea typeface="Calibri"/>
                <a:cs typeface="Calibri"/>
                <a:sym typeface="Calibri"/>
              </a:rPr>
              <a:t>Gestión de usuarios</a:t>
            </a:r>
            <a:endParaRPr sz="2200" dirty="0"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4054"/>
              <a:buChar char="•"/>
            </a:pPr>
            <a:r>
              <a:rPr lang="es-CL" sz="2200" dirty="0">
                <a:latin typeface="Calibri"/>
                <a:ea typeface="Calibri"/>
                <a:cs typeface="Calibri"/>
                <a:sym typeface="Calibri"/>
              </a:rPr>
              <a:t>Constructor de procesos de </a:t>
            </a:r>
            <a:r>
              <a:rPr lang="es-CL" sz="2200" dirty="0" err="1">
                <a:latin typeface="Calibri"/>
                <a:ea typeface="Calibri"/>
                <a:cs typeface="Calibri"/>
                <a:sym typeface="Calibri"/>
              </a:rPr>
              <a:t>onboarding</a:t>
            </a:r>
            <a:endParaRPr sz="2200" dirty="0"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4054"/>
              <a:buChar char="•"/>
            </a:pPr>
            <a:r>
              <a:rPr lang="es-CL" sz="2200" dirty="0">
                <a:latin typeface="Calibri"/>
                <a:ea typeface="Calibri"/>
                <a:cs typeface="Calibri"/>
                <a:sym typeface="Calibri"/>
              </a:rPr>
              <a:t>Sistema de alertas y notificaciones</a:t>
            </a:r>
            <a:endParaRPr dirty="0"/>
          </a:p>
        </p:txBody>
      </p:sp>
      <p:sp>
        <p:nvSpPr>
          <p:cNvPr id="134" name="Google Shape;134;p5"/>
          <p:cNvSpPr txBox="1"/>
          <p:nvPr/>
        </p:nvSpPr>
        <p:spPr>
          <a:xfrm>
            <a:off x="105338" y="-27872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“Sistema Onboarding”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5"/>
          <p:cNvSpPr txBox="1"/>
          <p:nvPr/>
        </p:nvSpPr>
        <p:spPr>
          <a:xfrm>
            <a:off x="6201338" y="1635213"/>
            <a:ext cx="5181600" cy="50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CL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s-CL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Integración de estándares técnicos: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s-CL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RBAC (roles y permisos)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s-CL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Multi-tenancy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s-CL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Auditoría de logs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s-CL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Aplicación de inteligencia artificial para automatizar procesos operativos.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s-CL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Ejecución de: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s-CL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Pruebas funcionales </a:t>
            </a: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QA</a:t>
            </a:r>
            <a:endParaRPr lang="es-MX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Generación de documentación completa (postergada)</a:t>
            </a:r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g3d5f7eded9e_0_1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1" name="Google Shape;141;g3d5f7eded9e_0_1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42" name="Google Shape;142;g3d5f7eded9e_0_1"/>
          <p:cNvSpPr txBox="1">
            <a:spLocks noGrp="1"/>
          </p:cNvSpPr>
          <p:nvPr>
            <p:ph type="title"/>
          </p:nvPr>
        </p:nvSpPr>
        <p:spPr>
          <a:xfrm>
            <a:off x="838200" y="849813"/>
            <a:ext cx="10515600" cy="7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CL" sz="3600" b="1"/>
              <a:t>Alcances y limitaciones del proyecto</a:t>
            </a:r>
            <a:endParaRPr sz="3600" b="1"/>
          </a:p>
        </p:txBody>
      </p:sp>
      <p:sp>
        <p:nvSpPr>
          <p:cNvPr id="143" name="Google Shape;143;g3d5f7eded9e_0_1"/>
          <p:cNvSpPr txBox="1">
            <a:spLocks noGrp="1"/>
          </p:cNvSpPr>
          <p:nvPr>
            <p:ph type="body" idx="2"/>
          </p:nvPr>
        </p:nvSpPr>
        <p:spPr>
          <a:xfrm>
            <a:off x="657549" y="2321850"/>
            <a:ext cx="5458500" cy="24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s-CL" b="1"/>
              <a:t>Limitaciones:</a:t>
            </a:r>
            <a:endParaRPr b="1"/>
          </a:p>
          <a:p>
            <a:pPr marL="457200" lvl="0" indent="-3810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s-CL" sz="2400">
                <a:latin typeface="Calibri"/>
                <a:ea typeface="Calibri"/>
                <a:cs typeface="Calibri"/>
                <a:sym typeface="Calibri"/>
              </a:rPr>
              <a:t>El proyecto se encuentra limitado por tiempo, tamaño del equipo y alcance MVP, y restricciones en la implementación completa de IA y escalabilidad.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3d5f7eded9e_0_1"/>
          <p:cNvSpPr txBox="1"/>
          <p:nvPr/>
        </p:nvSpPr>
        <p:spPr>
          <a:xfrm>
            <a:off x="105338" y="-27872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“Sistema Onboarding”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6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6"/>
          <p:cNvSpPr txBox="1"/>
          <p:nvPr/>
        </p:nvSpPr>
        <p:spPr>
          <a:xfrm>
            <a:off x="0" y="894119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52" name="Google Shape;152;p6"/>
          <p:cNvSpPr txBox="1">
            <a:spLocks noGrp="1"/>
          </p:cNvSpPr>
          <p:nvPr>
            <p:ph type="body" idx="1"/>
          </p:nvPr>
        </p:nvSpPr>
        <p:spPr>
          <a:xfrm>
            <a:off x="838200" y="1776975"/>
            <a:ext cx="10515600" cy="33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s-CL" sz="2400" b="1"/>
              <a:t>Metodología ágil</a:t>
            </a:r>
            <a:r>
              <a:rPr lang="es-CL" sz="2400"/>
              <a:t>: trabajo en </a:t>
            </a:r>
            <a:r>
              <a:rPr lang="es-CL" sz="2400" b="1"/>
              <a:t>sprints de 2 semanas</a:t>
            </a:r>
            <a:r>
              <a:rPr lang="es-CL" sz="2400"/>
              <a:t> con entregables funcionales.</a:t>
            </a:r>
            <a:endParaRPr sz="240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CL" sz="2400" b="1"/>
              <a:t>Reunión fija con Product Owner</a:t>
            </a:r>
            <a:r>
              <a:rPr lang="es-CL" sz="2400"/>
              <a:t>: para planificación y revisión de avances.</a:t>
            </a:r>
            <a:endParaRPr sz="240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CL" sz="2400" b="1"/>
              <a:t>Roles principales</a:t>
            </a:r>
            <a:r>
              <a:rPr lang="es-CL" sz="2400"/>
              <a:t>: Product Owner, Scrum Master, Equipo de Desarrollo.</a:t>
            </a:r>
            <a:endParaRPr sz="240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CL" sz="2400" b="1"/>
              <a:t>Gestión en Jira</a:t>
            </a:r>
            <a:r>
              <a:rPr lang="es-CL" sz="2400"/>
              <a:t>: historias de usuario con subtareas y tablero Scrum para seguimiento.</a:t>
            </a:r>
            <a:endParaRPr sz="240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CL" sz="2400" b="1"/>
              <a:t>Objetivo</a:t>
            </a:r>
            <a:r>
              <a:rPr lang="es-CL" sz="2400"/>
              <a:t>: asegurar entregas frecuentes, visibilidad del progreso y mejora continua en el sistema de onboarding.</a:t>
            </a:r>
            <a:endParaRPr sz="2400"/>
          </a:p>
        </p:txBody>
      </p:sp>
      <p:sp>
        <p:nvSpPr>
          <p:cNvPr id="153" name="Google Shape;153;p6"/>
          <p:cNvSpPr txBox="1"/>
          <p:nvPr/>
        </p:nvSpPr>
        <p:spPr>
          <a:xfrm>
            <a:off x="105323" y="3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“Sistema Onboarding”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18275" y="5153500"/>
            <a:ext cx="1595275" cy="147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7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7"/>
          <p:cNvSpPr txBox="1"/>
          <p:nvPr/>
        </p:nvSpPr>
        <p:spPr>
          <a:xfrm>
            <a:off x="-56274" y="63582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 sz="1000" b="1" i="0" u="none" strike="noStrike" cap="non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" name="Google Shape;161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62" name="Google Shape;162;p7"/>
          <p:cNvSpPr txBox="1"/>
          <p:nvPr/>
        </p:nvSpPr>
        <p:spPr>
          <a:xfrm>
            <a:off x="3" y="6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“Sistema Onboarding”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3" name="Google Shape;163;p7"/>
          <p:cNvGraphicFramePr/>
          <p:nvPr/>
        </p:nvGraphicFramePr>
        <p:xfrm>
          <a:off x="221579" y="14807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{57149967-E813-4C4C-9571-53EA1C5C59E0}</a:tableStyleId>
              </a:tblPr>
              <a:tblGrid>
                <a:gridCol w="27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6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04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9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b="1"/>
                        <a:t>Release</a:t>
                      </a:r>
                      <a:endParaRPr b="1"/>
                    </a:p>
                  </a:txBody>
                  <a:tcPr marL="28575" marR="28575" marT="19050" marB="19050" anchor="ctr">
                    <a:lnL w="19050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b="1"/>
                        <a:t>Sprints</a:t>
                      </a:r>
                      <a:endParaRPr b="1"/>
                    </a:p>
                  </a:txBody>
                  <a:tcPr marL="28575" marR="28575" marT="19050" marB="19050" anchor="ctr">
                    <a:lnL w="19050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b="1"/>
                        <a:t>HU</a:t>
                      </a:r>
                      <a:endParaRPr b="1"/>
                    </a:p>
                  </a:txBody>
                  <a:tcPr marL="28575" marR="28575" marT="19050" marB="19050" anchor="ctr">
                    <a:lnL w="19050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b="1"/>
                        <a:t>Historia de Usuario</a:t>
                      </a:r>
                      <a:endParaRPr b="1"/>
                    </a:p>
                  </a:txBody>
                  <a:tcPr marL="28575" marR="28575" marT="19050" marB="19050" anchor="ctr">
                    <a:lnL w="19050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b="1"/>
                        <a:t>Estado</a:t>
                      </a:r>
                      <a:endParaRPr b="1"/>
                    </a:p>
                  </a:txBody>
                  <a:tcPr marL="28575" marR="28575" marT="19050" marB="19050" anchor="ctr">
                    <a:lnL w="19050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b="1"/>
                        <a:t>Release 1 · Fundamentos</a:t>
                      </a:r>
                      <a:endParaRPr b="1"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Sprint 1</a:t>
                      </a: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HU-01</a:t>
                      </a: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Registrar una nueva empresa en el sistema</a:t>
                      </a: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✅ Finalizada</a:t>
                      </a: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HU-02</a:t>
                      </a: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Gestionar usuarios y asignar roles dentro de una empresa</a:t>
                      </a: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✅ Finalizada</a:t>
                      </a: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HU-03</a:t>
                      </a: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Gestión de Plantillas de Onboarding</a:t>
                      </a: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✅ Finalizada</a:t>
                      </a: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HU-04</a:t>
                      </a: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Asignar proceso de onboarding a nuevo empleado</a:t>
                      </a: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✅ Finalizada</a:t>
                      </a: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b="1"/>
                        <a:t>Release 2 · Ejecución</a:t>
                      </a:r>
                      <a:endParaRPr b="1"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Sprint 2–3</a:t>
                      </a: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HU-05</a:t>
                      </a: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Ver proceso de onboarding asignado como empleado</a:t>
                      </a: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✅ Finalizada</a:t>
                      </a: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HU-06</a:t>
                      </a: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Completar etapas del proceso de onboarding</a:t>
                      </a: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✅ Finalizada</a:t>
                      </a: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HU-07</a:t>
                      </a: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Revisar el avance de cada empleado en su proceso de onboarding</a:t>
                      </a: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✅ Finalizada</a:t>
                      </a: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1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HU-08</a:t>
                      </a: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Configurar el tiempo máximo (SLA) para cada etapa de una plantilla</a:t>
                      </a: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✅ Finalizada</a:t>
                      </a: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1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HU-09</a:t>
                      </a: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Recibir alertas cuando una tarea supera su fecha límite</a:t>
                      </a: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✅ Finalizada</a:t>
                      </a: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1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b="1"/>
                        <a:t>Release 3 · Reportes y Móvil</a:t>
                      </a:r>
                      <a:endParaRPr b="1"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Sprint 4–5</a:t>
                      </a: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HU-10</a:t>
                      </a: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Ver recordatorios de tareas pendientes en el sistema</a:t>
                      </a: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🔄 En curso</a:t>
                      </a: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1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HU-11</a:t>
                      </a: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Consultar reporte de avance del onboarding por empresa</a:t>
                      </a: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✅ Finalizada</a:t>
                      </a: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1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HU-12</a:t>
                      </a: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Acceder a mi onboarding desde la aplicación móvil</a:t>
                      </a: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📋 Por hacer</a:t>
                      </a: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8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8"/>
          <p:cNvSpPr txBox="1"/>
          <p:nvPr/>
        </p:nvSpPr>
        <p:spPr>
          <a:xfrm>
            <a:off x="1" y="62088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de Despliegue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" name="Google Shape;170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71" name="Google Shape;171;p8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“Sistema Onboarding”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p8"/>
          <p:cNvPicPr preferRelativeResize="0"/>
          <p:nvPr/>
        </p:nvPicPr>
        <p:blipFill rotWithShape="1">
          <a:blip r:embed="rId4">
            <a:alphaModFix/>
          </a:blip>
          <a:srcRect t="7020"/>
          <a:stretch/>
        </p:blipFill>
        <p:spPr>
          <a:xfrm>
            <a:off x="67188" y="1267375"/>
            <a:ext cx="12057626" cy="552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9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9"/>
          <p:cNvSpPr txBox="1"/>
          <p:nvPr/>
        </p:nvSpPr>
        <p:spPr>
          <a:xfrm>
            <a:off x="0" y="777809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 (ER)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9" name="Google Shape;179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80" name="Google Shape;180;p9"/>
          <p:cNvSpPr txBox="1"/>
          <p:nvPr/>
        </p:nvSpPr>
        <p:spPr>
          <a:xfrm>
            <a:off x="136200" y="368925"/>
            <a:ext cx="8636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“Sistema Onboarding”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424300"/>
            <a:ext cx="11984901" cy="5346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0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0"/>
          <p:cNvSpPr txBox="1"/>
          <p:nvPr/>
        </p:nvSpPr>
        <p:spPr>
          <a:xfrm>
            <a:off x="0" y="99290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8" name="Google Shape;188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89" name="Google Shape;189;p1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“Sistema Onboarding”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0"/>
          <p:cNvSpPr txBox="1">
            <a:spLocks noGrp="1"/>
          </p:cNvSpPr>
          <p:nvPr>
            <p:ph type="body" idx="2"/>
          </p:nvPr>
        </p:nvSpPr>
        <p:spPr>
          <a:xfrm>
            <a:off x="1494050" y="2048975"/>
            <a:ext cx="2591700" cy="41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s-CL" b="1"/>
              <a:t>Frontend </a:t>
            </a:r>
            <a:endParaRPr b="1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s-CL"/>
              <a:t>React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-CL"/>
              <a:t>Vercel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s-CL" b="1"/>
              <a:t>Backend</a:t>
            </a:r>
            <a:endParaRPr b="1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s-CL" u="sng">
                <a:solidFill>
                  <a:schemeClr val="hlink"/>
                </a:solidFill>
                <a:hlinkClick r:id="rId4"/>
              </a:rPr>
              <a:t>Node.js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-CL"/>
              <a:t>Render</a:t>
            </a:r>
            <a:endParaRPr/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191" name="Google Shape;191;p10"/>
          <p:cNvSpPr txBox="1">
            <a:spLocks noGrp="1"/>
          </p:cNvSpPr>
          <p:nvPr>
            <p:ph type="body" idx="2"/>
          </p:nvPr>
        </p:nvSpPr>
        <p:spPr>
          <a:xfrm>
            <a:off x="4630250" y="2048975"/>
            <a:ext cx="2674800" cy="41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s-CL" b="1"/>
              <a:t>Base de datos</a:t>
            </a:r>
            <a:endParaRPr b="1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s-CL"/>
              <a:t>Supabase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s-CL"/>
              <a:t>PostgreSQL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-CL"/>
              <a:t>pgAdmin/SQL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s-CL" b="1"/>
              <a:t>Autenticación</a:t>
            </a:r>
            <a:endParaRPr b="1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s-CL"/>
              <a:t>Keycloak</a:t>
            </a:r>
            <a:endParaRPr/>
          </a:p>
        </p:txBody>
      </p:sp>
      <p:sp>
        <p:nvSpPr>
          <p:cNvPr id="192" name="Google Shape;192;p10"/>
          <p:cNvSpPr txBox="1">
            <a:spLocks noGrp="1"/>
          </p:cNvSpPr>
          <p:nvPr>
            <p:ph type="body" idx="2"/>
          </p:nvPr>
        </p:nvSpPr>
        <p:spPr>
          <a:xfrm>
            <a:off x="8023150" y="2048975"/>
            <a:ext cx="2756700" cy="41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s-CL" b="1"/>
              <a:t>Infrastructura y Despliegue</a:t>
            </a:r>
            <a:endParaRPr b="1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s-CL"/>
              <a:t>Vercel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-CL"/>
              <a:t>Supabase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-CL"/>
              <a:t>GitHub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s-CL" b="1"/>
              <a:t>Gestión Proyecto</a:t>
            </a:r>
            <a:endParaRPr b="1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s-CL"/>
              <a:t>Jira</a:t>
            </a:r>
            <a:endParaRPr/>
          </a:p>
        </p:txBody>
      </p:sp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g3de4cfb01e8_1_10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g3de4cfb01e8_1_10"/>
          <p:cNvSpPr txBox="1"/>
          <p:nvPr/>
        </p:nvSpPr>
        <p:spPr>
          <a:xfrm>
            <a:off x="0" y="3105755"/>
            <a:ext cx="121920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Próximos Pasos / Cierre</a:t>
            </a:r>
            <a:endParaRPr sz="4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" name="Google Shape;199;g3de4cfb01e8_1_10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00" name="Google Shape;200;g3de4cfb01e8_1_10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“Sistema Onboarding”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g3de4cfb01e8_1_18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g3de4cfb01e8_1_18"/>
          <p:cNvSpPr txBox="1"/>
          <p:nvPr/>
        </p:nvSpPr>
        <p:spPr>
          <a:xfrm>
            <a:off x="0" y="3105755"/>
            <a:ext cx="121920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</a:t>
            </a:r>
            <a:endParaRPr sz="4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7" name="Google Shape;207;g3de4cfb01e8_1_18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08" name="Google Shape;208;g3de4cfb01e8_1_18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“Sistema Onboarding”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11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1"/>
          <p:cNvSpPr txBox="1"/>
          <p:nvPr/>
        </p:nvSpPr>
        <p:spPr>
          <a:xfrm>
            <a:off x="1" y="908442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C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 sz="2400" b="0" i="0" u="none" strike="noStrike" cap="non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 txBox="1"/>
          <p:nvPr/>
        </p:nvSpPr>
        <p:spPr>
          <a:xfrm>
            <a:off x="489850" y="1959425"/>
            <a:ext cx="4848000" cy="34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GENÉRICAS:</a:t>
            </a:r>
            <a:endParaRPr sz="2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-Super Administrador: admin / admin123</a:t>
            </a:r>
            <a:b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-HR Manager: hr / hr123</a:t>
            </a:r>
            <a:b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-Encargado de Área: encargado / encargado123</a:t>
            </a:r>
            <a:b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-Supervisor Onboarding: supervisor / supervisor123</a:t>
            </a:r>
            <a:b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-Empleado: employee/employee123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 txBox="1"/>
          <p:nvPr/>
        </p:nvSpPr>
        <p:spPr>
          <a:xfrm>
            <a:off x="5776925" y="1959425"/>
            <a:ext cx="5354700" cy="37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INDIVIDUALES:</a:t>
            </a:r>
            <a:endParaRPr sz="2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-HR Manager: pvargas@duoc.cl - pedro123 // usuario inactivo: aguzman@cocacola.cl - Aguzman123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-Empleado: acortes@duoc.cl - andre123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-Encargado de área: aguzman@duoc.cl - aguzman123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-Supervisor Onboarding: jgacitua@duoc.cl - javier123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 txBox="1"/>
          <p:nvPr/>
        </p:nvSpPr>
        <p:spPr>
          <a:xfrm>
            <a:off x="320925" y="5844500"/>
            <a:ext cx="10726200" cy="6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https://onboardhub-ebon.vercel.app/login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12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2"/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C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13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3"/>
          <p:cNvSpPr txBox="1"/>
          <p:nvPr/>
        </p:nvSpPr>
        <p:spPr>
          <a:xfrm>
            <a:off x="1" y="1360773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C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3"/>
          <p:cNvSpPr txBox="1"/>
          <p:nvPr/>
        </p:nvSpPr>
        <p:spPr>
          <a:xfrm>
            <a:off x="1165525" y="2449275"/>
            <a:ext cx="10152000" cy="17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Tiempo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Organización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Uso de herramientas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14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4"/>
          <p:cNvSpPr txBox="1"/>
          <p:nvPr/>
        </p:nvSpPr>
        <p:spPr>
          <a:xfrm>
            <a:off x="0" y="3044279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C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900</Words>
  <Application>Microsoft Office PowerPoint</Application>
  <PresentationFormat>Panorámica</PresentationFormat>
  <Paragraphs>158</Paragraphs>
  <Slides>17</Slides>
  <Notes>17</Notes>
  <HiddenSlides>2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0" baseType="lpstr"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Alcances y limitaciones del proyecto</vt:lpstr>
      <vt:lpstr>Alcances y limitaciones del proyecto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Gerardo Galan Cruz</dc:creator>
  <cp:lastModifiedBy>Alejandra Isabel Guzman Sanchez</cp:lastModifiedBy>
  <cp:revision>1</cp:revision>
  <dcterms:created xsi:type="dcterms:W3CDTF">2023-10-28T21:12:11Z</dcterms:created>
  <dcterms:modified xsi:type="dcterms:W3CDTF">2026-06-20T14:15:56Z</dcterms:modified>
</cp:coreProperties>
</file>