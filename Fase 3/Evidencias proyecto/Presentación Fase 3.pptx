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jyIo/gvGxZe6jPEWZKxZ7orvMht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AC37711-D398-44FA-9952-81C22E147CE7}">
  <a:tblStyle styleId="{EAC37711-D398-44FA-9952-81C22E147CE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d5f7eded9e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7" name="Google Shape;137;g3d5f7eded9e_0_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6" name="Google Shape;156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5" name="Google Shape;165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4" name="Google Shape;174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3" name="Google Shape;183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4" name="Google Shape;19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" name="Google Shape;2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1.png"/><Relationship Id="rId5" Type="http://schemas.openxmlformats.org/officeDocument/2006/relationships/image" Target="../media/image6.jpg"/><Relationship Id="rId6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jpg"/><Relationship Id="rId4" Type="http://schemas.openxmlformats.org/officeDocument/2006/relationships/hyperlink" Target="http://node.js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Relationship Id="rId4" Type="http://schemas.openxmlformats.org/officeDocument/2006/relationships/hyperlink" Target="mailto:iguzman@duoc.cl" TargetMode="External"/><Relationship Id="rId5" Type="http://schemas.openxmlformats.org/officeDocument/2006/relationships/hyperlink" Target="https://onboardhub-ebon.vercel.app/login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 </a:t>
            </a:r>
            <a:r>
              <a:rPr lang="es-CL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FINAL</a:t>
            </a: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PORTAFOLIO DE </a:t>
            </a:r>
            <a:r>
              <a:rPr lang="es-CL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TÍTULO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5" y="1373526"/>
            <a:ext cx="7947231" cy="5484307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Alejandra Guzmán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Planificación de sprints, coordinación de reuniones, seguimiento de avances, control de backlog.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Javier Gacitua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Equipo de desarrollo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Análisis de requerimientos, diseño de wireframes, documentación, desarrollo de módulos.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Max Kreimerman (Alloxentric)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Product Owner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Definición de requisitos, validación de entregables, priorización del backlog.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8" name="Google Shape;98;p2"/>
          <p:cNvSpPr txBox="1"/>
          <p:nvPr/>
        </p:nvSpPr>
        <p:spPr>
          <a:xfrm>
            <a:off x="120763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0" name="Google Shape;100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01" name="Google Shape;10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01210" y="5437848"/>
            <a:ext cx="1245600" cy="1245600"/>
          </a:xfrm>
          <a:prstGeom prst="ellipse">
            <a:avLst/>
          </a:prstGeom>
          <a:noFill/>
          <a:ln>
            <a:noFill/>
          </a:ln>
          <a:effectLst>
            <a:outerShdw blurRad="381000" sx="-80000" rotWithShape="0" dir="5400000" dist="292100" sy="-18000">
              <a:srgbClr val="000000">
                <a:alpha val="21960"/>
              </a:srgbClr>
            </a:outerShdw>
          </a:effectLst>
        </p:spPr>
      </p:pic>
      <p:pic>
        <p:nvPicPr>
          <p:cNvPr descr="Imagen del perfil" id="102" name="Google Shape;102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01060" y="1547596"/>
            <a:ext cx="1245900" cy="1245900"/>
          </a:xfrm>
          <a:prstGeom prst="ellipse">
            <a:avLst/>
          </a:prstGeom>
          <a:noFill/>
          <a:ln>
            <a:noFill/>
          </a:ln>
          <a:effectLst>
            <a:outerShdw blurRad="381000" sx="-80000" rotWithShape="0" dir="5400000" dist="292100" sy="-18000">
              <a:srgbClr val="000000">
                <a:alpha val="21960"/>
              </a:srgbClr>
            </a:outerShdw>
          </a:effectLst>
        </p:spPr>
      </p:pic>
      <p:pic>
        <p:nvPicPr>
          <p:cNvPr id="103" name="Google Shape;103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401210" y="3503964"/>
            <a:ext cx="1245600" cy="1223400"/>
          </a:xfrm>
          <a:prstGeom prst="ellipse">
            <a:avLst/>
          </a:prstGeom>
          <a:noFill/>
          <a:ln>
            <a:noFill/>
          </a:ln>
          <a:effectLst>
            <a:outerShdw blurRad="381000" sx="-80000" rotWithShape="0" dir="5400000" dist="292100" sy="-18000">
              <a:srgbClr val="000000">
                <a:alpha val="21960"/>
              </a:srgbClr>
            </a:outerShdw>
          </a:effectLst>
        </p:spPr>
      </p:pic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8" name="Google Shape;10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0" y="1130849"/>
            <a:ext cx="12192000" cy="6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" name="Google Shape;110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1" name="Google Shape;111;p3"/>
          <p:cNvSpPr/>
          <p:nvPr/>
        </p:nvSpPr>
        <p:spPr>
          <a:xfrm>
            <a:off x="684928" y="2068499"/>
            <a:ext cx="4348705" cy="4420573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-CL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CL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s-CL" sz="2000">
                <a:latin typeface="Calibri"/>
                <a:ea typeface="Calibri"/>
                <a:cs typeface="Calibri"/>
                <a:sym typeface="Calibri"/>
              </a:rPr>
              <a:t>lloxentric necesita digitalizar el proceso de incorporación de nuevos empleados para sus clientes. Actualmente este proceso es manual, repetitivo y difícil de escalar, lo que genera pérdida de tiempo en RRHH y una experiencia de bienvenida deficiente para el trabajador.</a:t>
            </a:r>
            <a:r>
              <a:rPr b="0" i="0" lang="es-CL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6912079" y="2177325"/>
            <a:ext cx="4348705" cy="4311747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-CL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s-CL" sz="2000">
                <a:latin typeface="Calibri"/>
                <a:ea typeface="Calibri"/>
                <a:cs typeface="Calibri"/>
                <a:sym typeface="Calibri"/>
              </a:rPr>
              <a:t>OnBoardHub</a:t>
            </a:r>
            <a:r>
              <a:rPr lang="es-CL" sz="2000">
                <a:latin typeface="Calibri"/>
                <a:ea typeface="Calibri"/>
                <a:cs typeface="Calibri"/>
                <a:sym typeface="Calibri"/>
              </a:rPr>
              <a:t>: un sistema de OnBoarding que permite construir flujos de incorporación personalizados por empresa, con portal administrativo para la consultora/cliente, portal web para el empleado, alertas por SLA, soporte multi-tenant y una arquitectura preparada para futura extensión móvil.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151588" y="1590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19" name="Google Shape;11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" y="710277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22" name="Google Shape;122;p4"/>
          <p:cNvSpPr txBox="1"/>
          <p:nvPr/>
        </p:nvSpPr>
        <p:spPr>
          <a:xfrm>
            <a:off x="-24" y="3105761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614514" y="1384324"/>
            <a:ext cx="10962900" cy="1575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L" sz="2400">
                <a:latin typeface="Calibri"/>
                <a:ea typeface="Calibri"/>
                <a:cs typeface="Calibri"/>
                <a:sym typeface="Calibri"/>
              </a:rPr>
              <a:t>Desarrollar e implementar OnBoardHub, una solución multi-tenant que automatice y estandarice los procesos de incorporación en empresas clientes de Alloxentric, reduciendo tareas manuales de RRHH y mejorando la experiencia del nuevo empleado.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25" y="3752251"/>
            <a:ext cx="10962900" cy="30075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/>
              <a:t>Diseñar la arquitectura y el modelo de datos multi-tenant.</a:t>
            </a:r>
            <a:endParaRPr sz="2400"/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/>
              <a:t>Implementar el portal administrativo.</a:t>
            </a:r>
            <a:endParaRPr sz="2400"/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/>
              <a:t>Implementar el portal web del empleado.</a:t>
            </a:r>
            <a:endParaRPr sz="2400"/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/>
              <a:t>Desarrollar el constructor de procesos de onboarding.</a:t>
            </a:r>
            <a:endParaRPr sz="2400"/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/>
              <a:t>Integrar alertas y seguimiento por SLA.</a:t>
            </a:r>
            <a:endParaRPr sz="2400"/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/>
              <a:t>Aplicar RBAC para control de acceso.</a:t>
            </a:r>
            <a:endParaRPr sz="2400"/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/>
              <a:t>Ejecutar pruebas funcionales y documentar el sistema.</a:t>
            </a:r>
            <a:endParaRPr sz="2400"/>
          </a:p>
        </p:txBody>
      </p:sp>
      <p:sp>
        <p:nvSpPr>
          <p:cNvPr id="125" name="Google Shape;125;p4"/>
          <p:cNvSpPr txBox="1"/>
          <p:nvPr/>
        </p:nvSpPr>
        <p:spPr>
          <a:xfrm>
            <a:off x="151638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1" name="Google Shape;131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2" name="Google Shape;132;p5"/>
          <p:cNvSpPr txBox="1"/>
          <p:nvPr>
            <p:ph type="title"/>
          </p:nvPr>
        </p:nvSpPr>
        <p:spPr>
          <a:xfrm>
            <a:off x="838200" y="904416"/>
            <a:ext cx="10515600" cy="65147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s-CL" sz="3600"/>
              <a:t>Alcances y limitaciones del proyecto</a:t>
            </a:r>
            <a:endParaRPr b="1" sz="3600"/>
          </a:p>
        </p:txBody>
      </p:sp>
      <p:sp>
        <p:nvSpPr>
          <p:cNvPr id="133" name="Google Shape;133;p5"/>
          <p:cNvSpPr txBox="1"/>
          <p:nvPr>
            <p:ph idx="1" type="body"/>
          </p:nvPr>
        </p:nvSpPr>
        <p:spPr>
          <a:xfrm>
            <a:off x="459971" y="1635225"/>
            <a:ext cx="8864100" cy="50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3000"/>
              <a:t>Alcances</a:t>
            </a:r>
            <a:r>
              <a:rPr b="1" lang="es-CL" sz="2200"/>
              <a:t>:</a:t>
            </a:r>
            <a:endParaRPr b="1" sz="2200"/>
          </a:p>
          <a:p>
            <a:pPr indent="-3683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es-CL" sz="2200"/>
              <a:t>Diseñar la arquitectura y base de datos del sistema.</a:t>
            </a:r>
            <a:endParaRPr sz="2200"/>
          </a:p>
          <a:p>
            <a:pPr indent="-3683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es-CL" sz="2200"/>
              <a:t>Desarrollar el portal administrativo y el portal del empleado.</a:t>
            </a:r>
            <a:endParaRPr sz="2200"/>
          </a:p>
          <a:p>
            <a:pPr indent="-3683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es-CL" sz="2200"/>
              <a:t>Implementar el flujo principal de onboarding y seguimiento.</a:t>
            </a:r>
            <a:endParaRPr sz="2200"/>
          </a:p>
          <a:p>
            <a:pPr indent="-3683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es-CL" sz="2200"/>
              <a:t>Integrar roles, permisos y alertas del proceso.</a:t>
            </a:r>
            <a:endParaRPr sz="2200"/>
          </a:p>
          <a:p>
            <a:pPr indent="-3683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es-CL" sz="2200"/>
              <a:t>Generar pruebas y documentación básica del sistema.</a:t>
            </a:r>
            <a:endParaRPr sz="2200"/>
          </a:p>
        </p:txBody>
      </p:sp>
      <p:sp>
        <p:nvSpPr>
          <p:cNvPr id="134" name="Google Shape;134;p5"/>
          <p:cNvSpPr txBox="1"/>
          <p:nvPr/>
        </p:nvSpPr>
        <p:spPr>
          <a:xfrm>
            <a:off x="105338" y="-27872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9" name="Google Shape;139;g3d5f7eded9e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0" name="Google Shape;140;g3d5f7eded9e_0_1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41" name="Google Shape;141;g3d5f7eded9e_0_1"/>
          <p:cNvSpPr txBox="1"/>
          <p:nvPr>
            <p:ph type="title"/>
          </p:nvPr>
        </p:nvSpPr>
        <p:spPr>
          <a:xfrm>
            <a:off x="838200" y="849813"/>
            <a:ext cx="10515600" cy="78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s-CL" sz="3600"/>
              <a:t>Alcances y limitaciones del proyecto</a:t>
            </a:r>
            <a:endParaRPr b="1" sz="3600"/>
          </a:p>
        </p:txBody>
      </p:sp>
      <p:sp>
        <p:nvSpPr>
          <p:cNvPr id="142" name="Google Shape;142;g3d5f7eded9e_0_1"/>
          <p:cNvSpPr txBox="1"/>
          <p:nvPr>
            <p:ph idx="2" type="body"/>
          </p:nvPr>
        </p:nvSpPr>
        <p:spPr>
          <a:xfrm>
            <a:off x="657550" y="2321850"/>
            <a:ext cx="10288200" cy="267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64286"/>
              <a:buNone/>
            </a:pPr>
            <a:r>
              <a:rPr b="1" lang="es-CL"/>
              <a:t>Limitaciones:</a:t>
            </a:r>
            <a:endParaRPr b="1"/>
          </a:p>
          <a:p>
            <a:pPr indent="-358140" lvl="0" marL="457200" rtl="0" algn="just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sz="2400"/>
              <a:t>El proyecto se enfoca solo en el MVP.</a:t>
            </a:r>
            <a:endParaRPr sz="2400"/>
          </a:p>
          <a:p>
            <a:pPr indent="-358140" lvl="0" marL="457200" rtl="0" algn="just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sz="2400"/>
              <a:t>La app móvil no se implementa en esta oportunidad.</a:t>
            </a:r>
            <a:endParaRPr sz="2400"/>
          </a:p>
          <a:p>
            <a:pPr indent="-358140" lvl="0" marL="457200" rtl="0" algn="just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sz="2400"/>
              <a:t>Algunas integraciones externas quedan para futuro.</a:t>
            </a:r>
            <a:endParaRPr sz="2400"/>
          </a:p>
          <a:p>
            <a:pPr indent="-358140" lvl="0" marL="457200" rtl="0" algn="just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sz="2400"/>
              <a:t>El alcance depende del tiempo disponible y validación con el cliente.</a:t>
            </a:r>
            <a:endParaRPr sz="2400"/>
          </a:p>
        </p:txBody>
      </p:sp>
      <p:sp>
        <p:nvSpPr>
          <p:cNvPr id="143" name="Google Shape;143;g3d5f7eded9e_0_1"/>
          <p:cNvSpPr txBox="1"/>
          <p:nvPr/>
        </p:nvSpPr>
        <p:spPr>
          <a:xfrm>
            <a:off x="105338" y="-27872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8" name="Google Shape;14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6"/>
          <p:cNvSpPr txBox="1"/>
          <p:nvPr/>
        </p:nvSpPr>
        <p:spPr>
          <a:xfrm>
            <a:off x="0" y="89411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0" name="Google Shape;150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1" name="Google Shape;151;p6"/>
          <p:cNvSpPr txBox="1"/>
          <p:nvPr>
            <p:ph idx="1" type="body"/>
          </p:nvPr>
        </p:nvSpPr>
        <p:spPr>
          <a:xfrm>
            <a:off x="838200" y="1776975"/>
            <a:ext cx="10515600" cy="33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/>
              <a:t>Trabajo ágil con sprints de 2 semanas y entregables funcionales.</a:t>
            </a:r>
            <a:endParaRPr sz="2400"/>
          </a:p>
          <a:p>
            <a:pPr indent="-3810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/>
              <a:t>Reuniones semanales con el Product Owner para revisión y priorización.</a:t>
            </a:r>
            <a:endParaRPr sz="2400"/>
          </a:p>
          <a:p>
            <a:pPr indent="-3810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/>
              <a:t>Roles definidos: Product Owner, Scrum Master y equipo de desarrollo.</a:t>
            </a:r>
            <a:endParaRPr sz="2400"/>
          </a:p>
          <a:p>
            <a:pPr indent="-3810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/>
              <a:t>Seguimiento en Jira con historias de usuario, subtareas y tablero Scrum.</a:t>
            </a:r>
            <a:endParaRPr sz="2400"/>
          </a:p>
          <a:p>
            <a:pPr indent="-3810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/>
              <a:t>Objetivo: avanzar de forma iterativa, validar temprano y mejorar continuamente el sistema</a:t>
            </a:r>
            <a:r>
              <a:rPr b="1" lang="es-CL" sz="2400"/>
              <a:t>.</a:t>
            </a:r>
            <a:endParaRPr b="1" sz="2400"/>
          </a:p>
        </p:txBody>
      </p:sp>
      <p:sp>
        <p:nvSpPr>
          <p:cNvPr id="152" name="Google Shape;152;p6"/>
          <p:cNvSpPr txBox="1"/>
          <p:nvPr/>
        </p:nvSpPr>
        <p:spPr>
          <a:xfrm>
            <a:off x="105323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18275" y="5153500"/>
            <a:ext cx="1595275" cy="147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8" name="Google Shape;15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7"/>
          <p:cNvSpPr txBox="1"/>
          <p:nvPr/>
        </p:nvSpPr>
        <p:spPr>
          <a:xfrm>
            <a:off x="-56274" y="63582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 b="1" i="0" sz="1000" u="none" cap="none" strike="noStrik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0" name="Google Shape;160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61" name="Google Shape;161;p7"/>
          <p:cNvSpPr txBox="1"/>
          <p:nvPr/>
        </p:nvSpPr>
        <p:spPr>
          <a:xfrm>
            <a:off x="3" y="6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2" name="Google Shape;162;p7"/>
          <p:cNvGraphicFramePr/>
          <p:nvPr/>
        </p:nvGraphicFramePr>
        <p:xfrm>
          <a:off x="221579" y="148075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{EAC37711-D398-44FA-9952-81C22E147CE7}</a:tableStyleId>
              </a:tblPr>
              <a:tblGrid>
                <a:gridCol w="2709600"/>
                <a:gridCol w="1154450"/>
                <a:gridCol w="806925"/>
                <a:gridCol w="5604825"/>
                <a:gridCol w="1429400"/>
              </a:tblGrid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Release</a:t>
                      </a:r>
                      <a:endParaRPr b="1"/>
                    </a:p>
                  </a:txBody>
                  <a:tcPr marT="19050" marB="19050" marR="28575" marL="28575" anchor="ctr">
                    <a:lnL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Sprints</a:t>
                      </a:r>
                      <a:endParaRPr b="1"/>
                    </a:p>
                  </a:txBody>
                  <a:tcPr marT="19050" marB="19050" marR="28575" marL="28575" anchor="ctr">
                    <a:lnL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HU</a:t>
                      </a:r>
                      <a:endParaRPr b="1"/>
                    </a:p>
                  </a:txBody>
                  <a:tcPr marT="19050" marB="19050" marR="28575" marL="28575" anchor="ctr">
                    <a:lnL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Historia de Usuario</a:t>
                      </a:r>
                      <a:endParaRPr b="1"/>
                    </a:p>
                  </a:txBody>
                  <a:tcPr marT="19050" marB="19050" marR="28575" marL="28575" anchor="ctr">
                    <a:lnL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Estado</a:t>
                      </a:r>
                      <a:endParaRPr b="1"/>
                    </a:p>
                  </a:txBody>
                  <a:tcPr marT="19050" marB="19050" marR="28575" marL="28575" anchor="ctr">
                    <a:lnL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Release 1</a:t>
                      </a:r>
                      <a:endParaRPr b="1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Sprint 1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HU-01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Registrar una nueva empresa en el sistema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HU-02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Gestionar usuarios y asignar roles dentro de una empresa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HU-03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Gestión de Plantillas de Onboarding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HU-04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Asignar proceso de onboarding a nuevo empleado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7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Release 2</a:t>
                      </a:r>
                      <a:endParaRPr b="1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Sprint 2–3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HU-05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Ver proceso de onboarding asignado como empleado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HU-06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Completar etapas del proceso de onboarding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HU-07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Revisar el avance de cada empleado en su proceso de onboarding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HU-08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Configurar el tiempo máximo (SLA) para cada etapa de una plantilla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HU-09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Recibir alertas cuando una tarea supera su fecha límite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84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/>
                        <a:t>Release 3</a:t>
                      </a:r>
                      <a:endParaRPr b="1"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Sprint 4–5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HU-10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Ver recordatorios de tareas pendientes en el sistema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>
                          <a:solidFill>
                            <a:schemeClr val="dk1"/>
                          </a:solidFill>
                        </a:rPr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HU-11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Consultar reporte de avance del onboarding por empresa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T="19050" marB="19050" marR="28575" marL="28575" anchor="b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7" name="Google Shape;16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8"/>
          <p:cNvSpPr txBox="1"/>
          <p:nvPr/>
        </p:nvSpPr>
        <p:spPr>
          <a:xfrm>
            <a:off x="1" y="62088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de Despliegue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9" name="Google Shape;169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0" name="Google Shape;170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1" name="Google Shape;171;p8"/>
          <p:cNvPicPr preferRelativeResize="0"/>
          <p:nvPr/>
        </p:nvPicPr>
        <p:blipFill rotWithShape="1">
          <a:blip r:embed="rId4">
            <a:alphaModFix/>
          </a:blip>
          <a:srcRect b="0" l="0" r="537" t="3176"/>
          <a:stretch/>
        </p:blipFill>
        <p:spPr>
          <a:xfrm>
            <a:off x="83162" y="1267375"/>
            <a:ext cx="12025675" cy="5513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6" name="Google Shape;17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9"/>
          <p:cNvSpPr txBox="1"/>
          <p:nvPr/>
        </p:nvSpPr>
        <p:spPr>
          <a:xfrm>
            <a:off x="0" y="77780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 (ER)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8" name="Google Shape;178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9" name="Google Shape;179;p9"/>
          <p:cNvSpPr txBox="1"/>
          <p:nvPr/>
        </p:nvSpPr>
        <p:spPr>
          <a:xfrm>
            <a:off x="136200" y="368925"/>
            <a:ext cx="8636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0" name="Google Shape;180;p9"/>
          <p:cNvPicPr preferRelativeResize="0"/>
          <p:nvPr/>
        </p:nvPicPr>
        <p:blipFill rotWithShape="1">
          <a:blip r:embed="rId4">
            <a:alphaModFix/>
          </a:blip>
          <a:srcRect b="6709" l="4300" r="4409" t="7285"/>
          <a:stretch/>
        </p:blipFill>
        <p:spPr>
          <a:xfrm>
            <a:off x="136200" y="1424311"/>
            <a:ext cx="11713476" cy="52784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5" name="Google Shape;18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0"/>
          <p:cNvSpPr txBox="1"/>
          <p:nvPr/>
        </p:nvSpPr>
        <p:spPr>
          <a:xfrm>
            <a:off x="0" y="9929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7" name="Google Shape;187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8" name="Google Shape;188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0"/>
          <p:cNvSpPr txBox="1"/>
          <p:nvPr>
            <p:ph idx="2" type="body"/>
          </p:nvPr>
        </p:nvSpPr>
        <p:spPr>
          <a:xfrm>
            <a:off x="1494050" y="2048975"/>
            <a:ext cx="2591700" cy="41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Frontend 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React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Vercel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Backend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>
                <a:uFill>
                  <a:noFill/>
                </a:uFill>
                <a:hlinkClick r:id="rId4"/>
              </a:rPr>
              <a:t>Node.js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Render</a:t>
            </a:r>
            <a:endParaRPr/>
          </a:p>
        </p:txBody>
      </p:sp>
      <p:sp>
        <p:nvSpPr>
          <p:cNvPr id="190" name="Google Shape;190;p10"/>
          <p:cNvSpPr txBox="1"/>
          <p:nvPr>
            <p:ph idx="2" type="body"/>
          </p:nvPr>
        </p:nvSpPr>
        <p:spPr>
          <a:xfrm>
            <a:off x="4630250" y="2048975"/>
            <a:ext cx="2674800" cy="41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Base de datos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Supabase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PostgreSQL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pgAdmin/SQL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Autenticación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Keycloak</a:t>
            </a:r>
            <a:endParaRPr/>
          </a:p>
        </p:txBody>
      </p:sp>
      <p:sp>
        <p:nvSpPr>
          <p:cNvPr id="191" name="Google Shape;191;p10"/>
          <p:cNvSpPr txBox="1"/>
          <p:nvPr>
            <p:ph idx="2" type="body"/>
          </p:nvPr>
        </p:nvSpPr>
        <p:spPr>
          <a:xfrm>
            <a:off x="8023150" y="2048975"/>
            <a:ext cx="2756700" cy="41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Infrastructura y Despliegue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Vercel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Supabase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GitHub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Gestión Proyecto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Jira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Notion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6" name="Google Shape;19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1"/>
          <p:cNvSpPr txBox="1"/>
          <p:nvPr/>
        </p:nvSpPr>
        <p:spPr>
          <a:xfrm>
            <a:off x="1" y="908442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 b="0" i="0" sz="2400" u="none" cap="none" strike="noStrik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1"/>
          <p:cNvSpPr txBox="1"/>
          <p:nvPr/>
        </p:nvSpPr>
        <p:spPr>
          <a:xfrm>
            <a:off x="489850" y="1959425"/>
            <a:ext cx="4848000" cy="34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GENÉRICAS:</a:t>
            </a:r>
            <a:endParaRPr b="1"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Super Administrador: admin / admin123</a:t>
            </a:r>
            <a:b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-HR Manager: hr / hr123</a:t>
            </a:r>
            <a:b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-Encargado de Área: encargado / encargado123</a:t>
            </a:r>
            <a:b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-Supervisor Onboarding: supervisor / supervisor123</a:t>
            </a:r>
            <a:b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-Empleado: employee/employee123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1"/>
          <p:cNvSpPr txBox="1"/>
          <p:nvPr/>
        </p:nvSpPr>
        <p:spPr>
          <a:xfrm>
            <a:off x="5776925" y="1959425"/>
            <a:ext cx="5354700" cy="37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INDIVIDUALES:</a:t>
            </a:r>
            <a:endParaRPr b="1"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-HR Manager: pvargas@duoc.cl - pedro123 // usuario inactivo: aguzman@cocacola.cl - Aguzman123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-Empleado: acortes@duoc.cl - andre123 // </a:t>
            </a:r>
            <a:r>
              <a:rPr lang="es-CL" sz="2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iguzman@duoc.cl</a:t>
            </a: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ignacia123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-Encargado de área: aguzman@duoc.cl - aguzman123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-Supervisor Onboarding: jgacitua@duoc.cl - javier123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"/>
          <p:cNvSpPr txBox="1"/>
          <p:nvPr/>
        </p:nvSpPr>
        <p:spPr>
          <a:xfrm>
            <a:off x="320925" y="5844500"/>
            <a:ext cx="107262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https://onboardhub-ebon.vercel.app/login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